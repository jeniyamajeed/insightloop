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3.png"/><Relationship Id="rId4" Type="http://schemas.openxmlformats.org/officeDocument/2006/relationships/image" Target="../media/image4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4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9.png"/><Relationship Id="rId4" Type="http://schemas.openxmlformats.org/officeDocument/2006/relationships/image" Target="../media/image16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hyperlink" Target="http://localhost:8090" TargetMode="External"/><Relationship Id="rId3" Type="http://schemas.openxmlformats.org/officeDocument/2006/relationships/image" Target="../media/image19.png"/><Relationship Id="rId2" Type="http://schemas.openxmlformats.org/officeDocument/2006/relationships/hyperlink" Target="http://localhost:4200" TargetMode="Externa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E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C7293">
              <a:alpha val="22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875520" y="3291840"/>
            <a:ext cx="3840480" cy="3840480"/>
          </a:xfrm>
          <a:prstGeom prst="ellipse">
            <a:avLst/>
          </a:prstGeom>
          <a:solidFill>
            <a:srgbClr val="FF6B5A">
              <a:alpha val="1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822960" y="21488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5F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INSIGHTLOOP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56032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Feedback to Confirmed Outcome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7955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C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flows, system architecture, and user journeys for the customer-outcome validation platform.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278892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5FA8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4800600"/>
            <a:ext cx="384048" cy="384048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4882896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89888" y="4709160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Outcome Validation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813048" y="4709160"/>
            <a:ext cx="278892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5FA8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922776" y="4800600"/>
            <a:ext cx="384048" cy="384048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488289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79976" y="4709160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Escalation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803136" y="4709160"/>
            <a:ext cx="278892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5FA8C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12864" y="4800600"/>
            <a:ext cx="384048" cy="384048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4882896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370064" y="4709160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Microservices Architecture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B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&amp; Engineering Overview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InsightLoop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Closing the Gap Between a Promise and a Confirmed Outcome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support tools measure success with immediate post-interaction CSAT — captured before the actual promise (refund, card replacement, account correction) is ever delivered. InsightLoop validates whether the outcome truly landed by the promised due date.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516636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blurRad="127000" dist="38100" dir="5400000" algn="bl" rotWithShape="0">
              <a:srgbClr val="0B2E4E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3017520"/>
            <a:ext cx="548640" cy="548640"/>
          </a:xfrm>
          <a:prstGeom prst="ellipse">
            <a:avLst/>
          </a:prstGeom>
          <a:solidFill>
            <a:srgbClr val="5B7285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313639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990088"/>
            <a:ext cx="3886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Traditional CSAT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45920" y="3337560"/>
            <a:ext cx="3886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Captured Immediately After the Interaction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60120" y="3931920"/>
            <a:ext cx="4526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✗"/>
            </a:pPr>
            <a:r>
              <a:rPr lang="en-US" sz="1250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 is logged right after the conversation ends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60120" y="4389120"/>
            <a:ext cx="4526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✗"/>
            </a:pPr>
            <a:r>
              <a:rPr lang="en-US" sz="1250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Measures the interaction, not the actual result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60120" y="4846320"/>
            <a:ext cx="4526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✗"/>
            </a:pPr>
            <a:r>
              <a:rPr lang="en-US" sz="1250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“Did we promise a fix?” is never re-checked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60120" y="5303520"/>
            <a:ext cx="4526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✗"/>
            </a:pPr>
            <a:r>
              <a:rPr lang="en-US" sz="1250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Misses delayed refunds, replacements, or errors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355080" y="2697480"/>
            <a:ext cx="5166360" cy="3246120"/>
          </a:xfrm>
          <a:prstGeom prst="roundRect">
            <a:avLst>
              <a:gd name="adj" fmla="val 2817"/>
            </a:avLst>
          </a:prstGeom>
          <a:solidFill>
            <a:srgbClr val="0B2E4E"/>
          </a:solidFill>
          <a:effectLst>
            <a:outerShdw blurRad="127000" dist="38100" dir="5400000" algn="bl" rotWithShape="0">
              <a:srgbClr val="0B2E4E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675120" y="3017520"/>
            <a:ext cx="548640" cy="5486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3136392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60920" y="2990088"/>
            <a:ext cx="3886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InsightLoop Validation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7360920" y="3337560"/>
            <a:ext cx="3886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F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Validated at the Promised Due Date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675120" y="3931920"/>
            <a:ext cx="4526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EAF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Commitment is logged with a specific due date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675120" y="4389120"/>
            <a:ext cx="4526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EAF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is re-contacted once that date arrives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675120" y="4846320"/>
            <a:ext cx="4526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EAF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Confirms whether the outcome truly landed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675120" y="5303520"/>
            <a:ext cx="4526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EAF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Unresolved cases auto-escalate to a priority queue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InsightLoop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Product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Four Stages of the Customer Validation Lifecycle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450592" cy="3246120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blurRad="127000" dist="38100" dir="5400000" algn="bl" rotWithShape="0">
              <a:srgbClr val="0B2E4E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3911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7D8E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2587752"/>
            <a:ext cx="566928" cy="566928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706624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19272"/>
            <a:ext cx="208483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Support Interaction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4023360"/>
            <a:ext cx="208483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logs the interaction and captures immediate CSAT.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026664" y="3323844"/>
            <a:ext cx="347472" cy="347472"/>
          </a:xfrm>
          <a:prstGeom prst="ellipse">
            <a:avLst/>
          </a:prstGeom>
          <a:solidFill>
            <a:srgbClr val="0B2E4E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3406140"/>
            <a:ext cx="182880" cy="182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310128" y="1874520"/>
            <a:ext cx="2450592" cy="3246120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blurRad="127000" dist="38100" dir="5400000" algn="bl" rotWithShape="0">
              <a:srgbClr val="0B2E4E">
                <a:alpha val="16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493008" y="203911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7D8E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3493008" y="2587752"/>
            <a:ext cx="566928" cy="566928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706624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93008" y="3319272"/>
            <a:ext cx="208483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Commitment Created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3493008" y="4023360"/>
            <a:ext cx="208483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promises an outcome with a due date and owner.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696712" y="3323844"/>
            <a:ext cx="347472" cy="347472"/>
          </a:xfrm>
          <a:prstGeom prst="ellipse">
            <a:avLst/>
          </a:prstGeom>
          <a:solidFill>
            <a:srgbClr val="0B2E4E"/>
          </a:solidFill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3406140"/>
            <a:ext cx="182880" cy="18288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980176" y="1874520"/>
            <a:ext cx="2450592" cy="3246120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blurRad="127000" dist="38100" dir="5400000" algn="bl" rotWithShape="0">
              <a:srgbClr val="0B2E4E">
                <a:alpha val="16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6163056" y="203911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7D8E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6163056" y="2587752"/>
            <a:ext cx="566928" cy="566928"/>
          </a:xfrm>
          <a:prstGeom prst="ellipse">
            <a:avLst/>
          </a:prstGeom>
          <a:solidFill>
            <a:srgbClr val="2F8CAE"/>
          </a:solidFill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2706624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163056" y="3319272"/>
            <a:ext cx="208483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Validation Check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6163056" y="4023360"/>
            <a:ext cx="208483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 scheduled check-in as the due date arrives.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8366760" y="3323844"/>
            <a:ext cx="347472" cy="347472"/>
          </a:xfrm>
          <a:prstGeom prst="ellipse">
            <a:avLst/>
          </a:prstGeom>
          <a:solidFill>
            <a:srgbClr val="0B2E4E"/>
          </a:solidFill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056" y="3406140"/>
            <a:ext cx="182880" cy="18288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8650224" y="1874520"/>
            <a:ext cx="2450592" cy="3246120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blurRad="127000" dist="38100" dir="5400000" algn="bl" rotWithShape="0">
              <a:srgbClr val="0B2E4E">
                <a:alpha val="16000"/>
              </a:srgbClr>
            </a:outerShdw>
          </a:effectLst>
        </p:spPr>
      </p:sp>
      <p:sp>
        <p:nvSpPr>
          <p:cNvPr id="29" name="Text 21"/>
          <p:cNvSpPr/>
          <p:nvPr/>
        </p:nvSpPr>
        <p:spPr>
          <a:xfrm>
            <a:off x="8833104" y="203911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7D8E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Shape 22"/>
          <p:cNvSpPr/>
          <p:nvPr/>
        </p:nvSpPr>
        <p:spPr>
          <a:xfrm>
            <a:off x="8833104" y="2587752"/>
            <a:ext cx="566928" cy="566928"/>
          </a:xfrm>
          <a:prstGeom prst="ellipse">
            <a:avLst/>
          </a:prstGeom>
          <a:solidFill>
            <a:srgbClr val="FF6B5A"/>
          </a:solidFill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1976" y="2706624"/>
            <a:ext cx="329184" cy="32918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833104" y="3319272"/>
            <a:ext cx="208483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Resolved or Escalated</a:t>
            </a:r>
            <a:endParaRPr lang="en-US" sz="1450" dirty="0"/>
          </a:p>
        </p:txBody>
      </p:sp>
      <p:sp>
        <p:nvSpPr>
          <p:cNvPr id="33" name="Text 24"/>
          <p:cNvSpPr/>
          <p:nvPr/>
        </p:nvSpPr>
        <p:spPr>
          <a:xfrm>
            <a:off x="8833104" y="4023360"/>
            <a:ext cx="208483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Confirmed outcomes are logged; unresolved ones escalate.</a:t>
            </a:r>
            <a:endParaRPr lang="en-US" sz="1100" dirty="0"/>
          </a:p>
        </p:txBody>
      </p:sp>
      <p:sp>
        <p:nvSpPr>
          <p:cNvPr id="38" name="Text 28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InsightLoop</a:t>
            </a:r>
            <a:endParaRPr lang="en-US" sz="900" dirty="0"/>
          </a:p>
        </p:txBody>
      </p:sp>
      <p:sp>
        <p:nvSpPr>
          <p:cNvPr id="39" name="Text 29"/>
          <p:cNvSpPr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Flow — Part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Capture the Interaction, Create the Commitment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blurRad="127000" dist="38100" dir="5400000" algn="bl" rotWithShape="0">
              <a:srgbClr val="0B2E4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566928" cy="566928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26771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03120"/>
            <a:ext cx="3840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1. Interaction &amp; Immediate Feedback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971800"/>
            <a:ext cx="45720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a customer interacts with support — for example, about a billing issue or refund request — the agent captures the interaction in the system and logs an immediate CSAT score.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60120" y="4041648"/>
            <a:ext cx="4572000" cy="0"/>
          </a:xfrm>
          <a:prstGeom prst="line">
            <a:avLst/>
          </a:prstGeom>
          <a:noFill/>
          <a:ln w="12700">
            <a:solidFill>
              <a:srgbClr val="E4EC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4187952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Captured at this step: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60120" y="455371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Interaction context and channel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60120" y="49377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Immediate CSAT score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0120" y="532180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Linked customer record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55080" y="1828800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0B2E4E"/>
          </a:solidFill>
          <a:effectLst>
            <a:outerShdw blurRad="127000" dist="38100" dir="5400000" algn="bl" rotWithShape="0">
              <a:srgbClr val="0B2E4E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675120" y="2148840"/>
            <a:ext cx="566928" cy="566928"/>
          </a:xfrm>
          <a:prstGeom prst="ellipse">
            <a:avLst/>
          </a:prstGeom>
          <a:solidFill>
            <a:srgbClr val="FF6B5A"/>
          </a:solidFill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2267712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06640" y="2103120"/>
            <a:ext cx="3840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2. Creating a Commitment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675120" y="2971800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7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the agent promises an action with a future resolution date — e.g. “Your refund will clear in 3 business days” — they log a Commitment.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675120" y="3858768"/>
            <a:ext cx="4572000" cy="0"/>
          </a:xfrm>
          <a:prstGeom prst="line">
            <a:avLst/>
          </a:prstGeom>
          <a:noFill/>
          <a:ln w="12700">
            <a:solidFill>
              <a:srgbClr val="2C5A7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675120" y="4005072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F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commitment contains: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675120" y="438912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Outcome Type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675120" y="4626864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Refund, Card Replacement, Service Activation, etc.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675120" y="489204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Due Date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6675120" y="5129784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promised resolution date.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InsightLoop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Flow — Part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Delayed Validation and Automatic Escalation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0879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blurRad="127000" dist="38100" dir="5400000" algn="bl" rotWithShape="0">
              <a:srgbClr val="0B2E4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566928" cy="566928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26771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84832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3. Delayed Validation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91640" y="2450592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Triggered once the commitment reaches its due date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80760" y="2057400"/>
            <a:ext cx="0" cy="1508760"/>
          </a:xfrm>
          <a:prstGeom prst="line">
            <a:avLst/>
          </a:prstGeom>
          <a:noFill/>
          <a:ln w="12700">
            <a:solidFill>
              <a:srgbClr val="E4EC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2121408"/>
            <a:ext cx="4873752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notification/survey is triggered asking if the issue was resolved.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355080" y="2779776"/>
            <a:ext cx="4873752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Customers respond via the Validation Response Simulator UI.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4114800"/>
            <a:ext cx="10908792" cy="2377440"/>
          </a:xfrm>
          <a:prstGeom prst="roundRect">
            <a:avLst>
              <a:gd name="adj" fmla="val 3846"/>
            </a:avLst>
          </a:prstGeom>
          <a:solidFill>
            <a:srgbClr val="0B2E4E"/>
          </a:solidFill>
          <a:effectLst>
            <a:outerShdw blurRad="127000" dist="38100" dir="5400000" algn="bl" rotWithShape="0">
              <a:srgbClr val="0B2E4E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960120" y="4407408"/>
            <a:ext cx="566928" cy="566928"/>
          </a:xfrm>
          <a:prstGeom prst="ellipse">
            <a:avLst/>
          </a:prstGeom>
          <a:solidFill>
            <a:srgbClr val="FF6B5A"/>
          </a:solidFill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4526280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91640" y="43434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4. Automatic Escalation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1691640" y="470916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Ensuring no unresolved outcome slips through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4489704"/>
            <a:ext cx="109728" cy="109728"/>
          </a:xfrm>
          <a:prstGeom prst="ellipse">
            <a:avLst/>
          </a:prstGeom>
          <a:solidFill>
            <a:srgbClr val="FF6B5A"/>
          </a:solidFill>
        </p:spPr>
      </p:sp>
      <p:sp>
        <p:nvSpPr>
          <p:cNvPr id="18" name="Text 14"/>
          <p:cNvSpPr/>
          <p:nvPr/>
        </p:nvSpPr>
        <p:spPr>
          <a:xfrm>
            <a:off x="6400800" y="4361688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Unresolved response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275320" y="4361688"/>
            <a:ext cx="2953512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C7DC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through customer indicates the issue is unresolved → High-Priority Escalation is created.</a:t>
            </a:r>
            <a:endParaRPr lang="en-US" sz="1080" dirty="0"/>
          </a:p>
        </p:txBody>
      </p:sp>
      <p:sp>
        <p:nvSpPr>
          <p:cNvPr id="20" name="Shape 16"/>
          <p:cNvSpPr/>
          <p:nvPr/>
        </p:nvSpPr>
        <p:spPr>
          <a:xfrm>
            <a:off x="6126480" y="5148072"/>
            <a:ext cx="109728" cy="109728"/>
          </a:xfrm>
          <a:prstGeom prst="ellipse">
            <a:avLst/>
          </a:prstGeom>
          <a:solidFill>
            <a:srgbClr val="FF6B5A"/>
          </a:solidFill>
        </p:spPr>
      </p:sp>
      <p:sp>
        <p:nvSpPr>
          <p:cNvPr id="21" name="Text 17"/>
          <p:cNvSpPr/>
          <p:nvPr/>
        </p:nvSpPr>
        <p:spPr>
          <a:xfrm>
            <a:off x="6400800" y="5020056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response (48h)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275320" y="5020056"/>
            <a:ext cx="2953512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C7DC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validation job triggers a silent escalation to ensure the outcome gets checked.</a:t>
            </a:r>
            <a:endParaRPr lang="en-US" sz="1080" dirty="0"/>
          </a:p>
        </p:txBody>
      </p:sp>
      <p:sp>
        <p:nvSpPr>
          <p:cNvPr id="23" name="Shape 19"/>
          <p:cNvSpPr/>
          <p:nvPr/>
        </p:nvSpPr>
        <p:spPr>
          <a:xfrm>
            <a:off x="6126480" y="5806440"/>
            <a:ext cx="109728" cy="109728"/>
          </a:xfrm>
          <a:prstGeom prst="ellipse">
            <a:avLst/>
          </a:prstGeom>
          <a:solidFill>
            <a:srgbClr val="FF6B5A"/>
          </a:solidFill>
        </p:spPr>
      </p:sp>
      <p:sp>
        <p:nvSpPr>
          <p:cNvPr id="24" name="Text 20"/>
          <p:cNvSpPr/>
          <p:nvPr/>
        </p:nvSpPr>
        <p:spPr>
          <a:xfrm>
            <a:off x="6400800" y="5678424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Escalation Queue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8275320" y="5678424"/>
            <a:ext cx="2953512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C7DC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Escalations are pushed to the queue for agents to manage, assign, and audit.</a:t>
            </a:r>
            <a:endParaRPr lang="en-US" sz="1080" dirty="0"/>
          </a:p>
        </p:txBody>
      </p:sp>
      <p:sp>
        <p:nvSpPr>
          <p:cNvPr id="26" name="Text 22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InsightLoop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E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286000"/>
            <a:ext cx="5486400" cy="5486400"/>
          </a:xfrm>
          <a:prstGeom prst="ellipse">
            <a:avLst/>
          </a:prstGeom>
          <a:solidFill>
            <a:srgbClr val="1C7293">
              <a:alpha val="18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F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Microservices Platform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53384" cy="1965960"/>
          </a:xfrm>
          <a:prstGeom prst="roundRect">
            <a:avLst>
              <a:gd name="adj" fmla="val 4186"/>
            </a:avLst>
          </a:prstGeom>
          <a:solidFill>
            <a:srgbClr val="13395C"/>
          </a:solidFill>
          <a:ln w="12700">
            <a:solidFill>
              <a:srgbClr val="2355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084832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203704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697480"/>
            <a:ext cx="2941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96112" y="3063240"/>
            <a:ext cx="29413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Angular 17 Single Page Application.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67784" y="1828800"/>
            <a:ext cx="3453384" cy="1965960"/>
          </a:xfrm>
          <a:prstGeom prst="roundRect">
            <a:avLst>
              <a:gd name="adj" fmla="val 4186"/>
            </a:avLst>
          </a:prstGeom>
          <a:solidFill>
            <a:srgbClr val="13395C"/>
          </a:solidFill>
          <a:ln w="12700">
            <a:solidFill>
              <a:srgbClr val="2355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3816" y="2084832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688" y="2203704"/>
            <a:ext cx="265176" cy="2651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23816" y="2697480"/>
            <a:ext cx="2941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api-gateway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23816" y="3063240"/>
            <a:ext cx="29413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Cloud routing and JWT authorization gateway.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95488" y="1828800"/>
            <a:ext cx="3453384" cy="1965960"/>
          </a:xfrm>
          <a:prstGeom prst="roundRect">
            <a:avLst>
              <a:gd name="adj" fmla="val 4186"/>
            </a:avLst>
          </a:prstGeom>
          <a:solidFill>
            <a:srgbClr val="13395C"/>
          </a:solidFill>
          <a:ln w="12700">
            <a:solidFill>
              <a:srgbClr val="23557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51520" y="2084832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392" y="2203704"/>
            <a:ext cx="265176" cy="2651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1520" y="2697480"/>
            <a:ext cx="2941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auth-service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51520" y="3063240"/>
            <a:ext cx="29413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management, roles (ADMIN, AGENT, MANAGER), and permissions.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" y="4069080"/>
            <a:ext cx="3453384" cy="1965960"/>
          </a:xfrm>
          <a:prstGeom prst="roundRect">
            <a:avLst>
              <a:gd name="adj" fmla="val 4186"/>
            </a:avLst>
          </a:prstGeom>
          <a:solidFill>
            <a:srgbClr val="13395C"/>
          </a:solidFill>
          <a:ln w="12700">
            <a:solidFill>
              <a:srgbClr val="23557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96112" y="4325112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443984"/>
            <a:ext cx="265176" cy="26517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96112" y="4937760"/>
            <a:ext cx="2941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feedback-service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896112" y="5303520"/>
            <a:ext cx="29413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Captures support interactions and immediate CSAT feedback.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67784" y="4069080"/>
            <a:ext cx="3453384" cy="1965960"/>
          </a:xfrm>
          <a:prstGeom prst="roundRect">
            <a:avLst>
              <a:gd name="adj" fmla="val 4186"/>
            </a:avLst>
          </a:prstGeom>
          <a:solidFill>
            <a:srgbClr val="13395C"/>
          </a:solidFill>
          <a:ln w="12700">
            <a:solidFill>
              <a:srgbClr val="23557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623816" y="4325112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688" y="4443984"/>
            <a:ext cx="265176" cy="26517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23816" y="4937760"/>
            <a:ext cx="2941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validation-service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623816" y="5303520"/>
            <a:ext cx="29413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Manages future commitments and scheduled validation checks.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095488" y="4069080"/>
            <a:ext cx="3453384" cy="1965960"/>
          </a:xfrm>
          <a:prstGeom prst="roundRect">
            <a:avLst>
              <a:gd name="adj" fmla="val 4186"/>
            </a:avLst>
          </a:prstGeom>
          <a:solidFill>
            <a:srgbClr val="13395C"/>
          </a:solidFill>
          <a:ln w="12700">
            <a:solidFill>
              <a:srgbClr val="23557A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51520" y="4325112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0392" y="4443984"/>
            <a:ext cx="265176" cy="26517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51520" y="4937760"/>
            <a:ext cx="2941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escalation-service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351520" y="5303520"/>
            <a:ext cx="29413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9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Tracks and routes unresolved issues to the priority queue.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B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InsightLoop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B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Platform Capabilities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Dashboard, Timeline &amp; Audit Trail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mockups define two core surfaces: an operations dashboard for real-time metrics, and a per-commitment timeline for history and audit.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1208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blurRad="127000" dist="38100" dir="5400000" algn="bl" rotWithShape="0">
              <a:srgbClr val="0B2E4E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423160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542032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377440"/>
            <a:ext cx="4023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Dashboard — Core Metrics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14400" y="3108960"/>
            <a:ext cx="4663440" cy="566928"/>
          </a:xfrm>
          <a:prstGeom prst="roundRect">
            <a:avLst>
              <a:gd name="adj" fmla="val 11290"/>
            </a:avLst>
          </a:prstGeom>
          <a:solidFill>
            <a:srgbClr val="F5F9FB"/>
          </a:solidFill>
        </p:spPr>
      </p:sp>
      <p:sp>
        <p:nvSpPr>
          <p:cNvPr id="10" name="Text 7"/>
          <p:cNvSpPr/>
          <p:nvPr/>
        </p:nvSpPr>
        <p:spPr>
          <a:xfrm>
            <a:off x="1097280" y="3163824"/>
            <a:ext cx="4297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Commitments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97280" y="3401568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count awaiting their validation date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914400" y="3794760"/>
            <a:ext cx="4663440" cy="566928"/>
          </a:xfrm>
          <a:prstGeom prst="roundRect">
            <a:avLst>
              <a:gd name="adj" fmla="val 11290"/>
            </a:avLst>
          </a:prstGeom>
          <a:solidFill>
            <a:srgbClr val="F5F9FB"/>
          </a:solidFill>
        </p:spPr>
      </p:sp>
      <p:sp>
        <p:nvSpPr>
          <p:cNvPr id="13" name="Text 10"/>
          <p:cNvSpPr/>
          <p:nvPr/>
        </p:nvSpPr>
        <p:spPr>
          <a:xfrm>
            <a:off x="1097280" y="3849624"/>
            <a:ext cx="4297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Success Rate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97280" y="4087368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 of outcomes confirmed resolved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914400" y="4480560"/>
            <a:ext cx="4663440" cy="566928"/>
          </a:xfrm>
          <a:prstGeom prst="roundRect">
            <a:avLst>
              <a:gd name="adj" fmla="val 11290"/>
            </a:avLst>
          </a:prstGeom>
          <a:solidFill>
            <a:srgbClr val="F5F9FB"/>
          </a:solidFill>
        </p:spPr>
      </p:sp>
      <p:sp>
        <p:nvSpPr>
          <p:cNvPr id="16" name="Text 13"/>
          <p:cNvSpPr/>
          <p:nvPr/>
        </p:nvSpPr>
        <p:spPr>
          <a:xfrm>
            <a:off x="1097280" y="4535424"/>
            <a:ext cx="4297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Active Escalations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7280" y="4773168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Cases currently in the priority queue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914400" y="5166360"/>
            <a:ext cx="4663440" cy="566928"/>
          </a:xfrm>
          <a:prstGeom prst="roundRect">
            <a:avLst>
              <a:gd name="adj" fmla="val 11290"/>
            </a:avLst>
          </a:prstGeom>
          <a:solidFill>
            <a:srgbClr val="F5F9FB"/>
          </a:solidFill>
        </p:spPr>
      </p:sp>
      <p:sp>
        <p:nvSpPr>
          <p:cNvPr id="19" name="Text 16"/>
          <p:cNvSpPr/>
          <p:nvPr/>
        </p:nvSpPr>
        <p:spPr>
          <a:xfrm>
            <a:off x="1097280" y="5221224"/>
            <a:ext cx="4297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Avg. Time to Resolution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97280" y="5458968"/>
            <a:ext cx="4297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commitment to confirmed outcome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6355080" y="2148840"/>
            <a:ext cx="5212080" cy="3840480"/>
          </a:xfrm>
          <a:prstGeom prst="roundRect">
            <a:avLst>
              <a:gd name="adj" fmla="val 2381"/>
            </a:avLst>
          </a:prstGeom>
          <a:solidFill>
            <a:srgbClr val="0B2E4E"/>
          </a:solidFill>
          <a:effectLst>
            <a:outerShdw blurRad="127000" dist="38100" dir="5400000" algn="bl" rotWithShape="0">
              <a:srgbClr val="0B2E4E">
                <a:alpha val="16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629400" y="2423160"/>
            <a:ext cx="502920" cy="502920"/>
          </a:xfrm>
          <a:prstGeom prst="ellipse">
            <a:avLst/>
          </a:prstGeom>
          <a:solidFill>
            <a:srgbClr val="FF6B5A"/>
          </a:solidFill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542032"/>
            <a:ext cx="265176" cy="26517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269480" y="2377440"/>
            <a:ext cx="4023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Commitment Timeline &amp; Audit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6675120" y="3136392"/>
            <a:ext cx="201168" cy="20116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6" name="Text 22"/>
          <p:cNvSpPr/>
          <p:nvPr/>
        </p:nvSpPr>
        <p:spPr>
          <a:xfrm>
            <a:off x="6675120" y="3136392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775704" y="3337560"/>
            <a:ext cx="0" cy="320040"/>
          </a:xfrm>
          <a:prstGeom prst="line">
            <a:avLst/>
          </a:prstGeom>
          <a:noFill/>
          <a:ln w="19050">
            <a:solidFill>
              <a:srgbClr val="2C5A7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040880" y="3081528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Interaction logged &amp; CSAT captured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6675120" y="3666744"/>
            <a:ext cx="201168" cy="20116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30" name="Text 26"/>
          <p:cNvSpPr/>
          <p:nvPr/>
        </p:nvSpPr>
        <p:spPr>
          <a:xfrm>
            <a:off x="6675120" y="3666744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6775704" y="3867912"/>
            <a:ext cx="0" cy="320040"/>
          </a:xfrm>
          <a:prstGeom prst="line">
            <a:avLst/>
          </a:prstGeom>
          <a:noFill/>
          <a:ln w="19050">
            <a:solidFill>
              <a:srgbClr val="2C5A7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040880" y="361188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Commitment created with due date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6675120" y="4197096"/>
            <a:ext cx="201168" cy="20116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34" name="Text 30"/>
          <p:cNvSpPr/>
          <p:nvPr/>
        </p:nvSpPr>
        <p:spPr>
          <a:xfrm>
            <a:off x="6675120" y="4197096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6775704" y="4398264"/>
            <a:ext cx="0" cy="320040"/>
          </a:xfrm>
          <a:prstGeom prst="line">
            <a:avLst/>
          </a:prstGeom>
          <a:noFill/>
          <a:ln w="19050">
            <a:solidFill>
              <a:srgbClr val="2C5A78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040880" y="414223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check-in sent </a:t>
            </a:r>
            <a:endParaRPr lang="en-US" sz="1150" dirty="0"/>
          </a:p>
        </p:txBody>
      </p:sp>
      <p:sp>
        <p:nvSpPr>
          <p:cNvPr id="37" name="Shape 33"/>
          <p:cNvSpPr/>
          <p:nvPr/>
        </p:nvSpPr>
        <p:spPr>
          <a:xfrm>
            <a:off x="6675120" y="4727448"/>
            <a:ext cx="201168" cy="20116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38" name="Text 34"/>
          <p:cNvSpPr/>
          <p:nvPr/>
        </p:nvSpPr>
        <p:spPr>
          <a:xfrm>
            <a:off x="6675120" y="472744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6775704" y="4928616"/>
            <a:ext cx="0" cy="320040"/>
          </a:xfrm>
          <a:prstGeom prst="line">
            <a:avLst/>
          </a:prstGeom>
          <a:noFill/>
          <a:ln w="19050">
            <a:solidFill>
              <a:srgbClr val="2C5A78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040880" y="467258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Outcome confirmed or escalated</a:t>
            </a:r>
            <a:endParaRPr lang="en-US" sz="1150" dirty="0"/>
          </a:p>
        </p:txBody>
      </p:sp>
      <p:sp>
        <p:nvSpPr>
          <p:cNvPr id="41" name="Shape 37"/>
          <p:cNvSpPr/>
          <p:nvPr/>
        </p:nvSpPr>
        <p:spPr>
          <a:xfrm>
            <a:off x="6675120" y="5257800"/>
            <a:ext cx="201168" cy="20116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42" name="Text 38"/>
          <p:cNvSpPr/>
          <p:nvPr/>
        </p:nvSpPr>
        <p:spPr>
          <a:xfrm>
            <a:off x="6675120" y="5257800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7040880" y="5202936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history available for audit</a:t>
            </a:r>
            <a:endParaRPr lang="en-US" sz="1150" dirty="0"/>
          </a:p>
        </p:txBody>
      </p:sp>
      <p:sp>
        <p:nvSpPr>
          <p:cNvPr id="44" name="Text 4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InsightLoop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Functionality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3517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blurRad="127000" dist="38100" dir="5400000" algn="bl" rotWithShape="0">
              <a:srgbClr val="0B2E4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84248"/>
            <a:ext cx="457200" cy="4572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0312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560320"/>
            <a:ext cx="213283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CSAT Capture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41248" y="2926080"/>
            <a:ext cx="2132838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5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Immediate feedback logged at the point of interaction.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3431286" y="1783080"/>
            <a:ext cx="253517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blurRad="127000" dist="38100" dir="5400000" algn="bl" rotWithShape="0">
              <a:srgbClr val="0B2E4E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2454" y="1984248"/>
            <a:ext cx="457200" cy="4572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326" y="210312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2454" y="2560320"/>
            <a:ext cx="213283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Commitment Tracking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632454" y="2926080"/>
            <a:ext cx="2132838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5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Outcome type, due date, and owning agent recorded per promise.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6222492" y="1783080"/>
            <a:ext cx="253517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blurRad="127000" dist="38100" dir="5400000" algn="bl" rotWithShape="0">
              <a:srgbClr val="0B2E4E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23660" y="1984248"/>
            <a:ext cx="457200" cy="4572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532" y="210312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23660" y="2560320"/>
            <a:ext cx="213283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Scheduled Validation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423660" y="2926080"/>
            <a:ext cx="2132838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5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check-ins fire exactly when a due date arrives.</a:t>
            </a:r>
            <a:endParaRPr lang="en-US" sz="960" dirty="0"/>
          </a:p>
        </p:txBody>
      </p:sp>
      <p:sp>
        <p:nvSpPr>
          <p:cNvPr id="19" name="Shape 14"/>
          <p:cNvSpPr/>
          <p:nvPr/>
        </p:nvSpPr>
        <p:spPr>
          <a:xfrm>
            <a:off x="9013698" y="1783080"/>
            <a:ext cx="253517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blurRad="127000" dist="38100" dir="5400000" algn="bl" rotWithShape="0">
              <a:srgbClr val="0B2E4E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14866" y="1984248"/>
            <a:ext cx="457200" cy="4572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3738" y="210312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14866" y="2560320"/>
            <a:ext cx="213283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Response Simulator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214866" y="2926080"/>
            <a:ext cx="2132838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5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UI for customers to confirm resolved / unresolved.</a:t>
            </a:r>
            <a:endParaRPr lang="en-US" sz="960" dirty="0"/>
          </a:p>
        </p:txBody>
      </p:sp>
      <p:sp>
        <p:nvSpPr>
          <p:cNvPr id="24" name="Shape 18"/>
          <p:cNvSpPr/>
          <p:nvPr/>
        </p:nvSpPr>
        <p:spPr>
          <a:xfrm>
            <a:off x="640080" y="4041648"/>
            <a:ext cx="253517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blurRad="127000" dist="38100" dir="5400000" algn="bl" rotWithShape="0">
              <a:srgbClr val="0B2E4E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41248" y="4242816"/>
            <a:ext cx="457200" cy="457200"/>
          </a:xfrm>
          <a:prstGeom prst="ellipse">
            <a:avLst/>
          </a:prstGeom>
          <a:solidFill>
            <a:srgbClr val="FF6B5A"/>
          </a:solidFill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361688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41248" y="4818888"/>
            <a:ext cx="213283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Auto-Escalation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841248" y="5184648"/>
            <a:ext cx="2132838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5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Unresolved or unanswered (48h) cases escalate without manual triggers.</a:t>
            </a:r>
            <a:endParaRPr lang="en-US" sz="960" dirty="0"/>
          </a:p>
        </p:txBody>
      </p:sp>
      <p:sp>
        <p:nvSpPr>
          <p:cNvPr id="29" name="Shape 22"/>
          <p:cNvSpPr/>
          <p:nvPr/>
        </p:nvSpPr>
        <p:spPr>
          <a:xfrm>
            <a:off x="3431286" y="4041648"/>
            <a:ext cx="253517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blurRad="127000" dist="38100" dir="5400000" algn="bl" rotWithShape="0">
              <a:srgbClr val="0B2E4E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632454" y="4242816"/>
            <a:ext cx="457200" cy="457200"/>
          </a:xfrm>
          <a:prstGeom prst="ellipse">
            <a:avLst/>
          </a:prstGeom>
          <a:solidFill>
            <a:srgbClr val="FF6B5A"/>
          </a:solidFill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1326" y="4361688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632454" y="4818888"/>
            <a:ext cx="213283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Priority Queue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632454" y="5184648"/>
            <a:ext cx="2132838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5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Escalations are assigned, tracked, and audited by agents.</a:t>
            </a:r>
            <a:endParaRPr lang="en-US" sz="960" dirty="0"/>
          </a:p>
        </p:txBody>
      </p:sp>
      <p:sp>
        <p:nvSpPr>
          <p:cNvPr id="34" name="Shape 26"/>
          <p:cNvSpPr/>
          <p:nvPr/>
        </p:nvSpPr>
        <p:spPr>
          <a:xfrm>
            <a:off x="6222492" y="4041648"/>
            <a:ext cx="253517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blurRad="127000" dist="38100" dir="5400000" algn="bl" rotWithShape="0">
              <a:srgbClr val="0B2E4E">
                <a:alpha val="1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423660" y="4242816"/>
            <a:ext cx="457200" cy="457200"/>
          </a:xfrm>
          <a:prstGeom prst="ellipse">
            <a:avLst/>
          </a:prstGeom>
          <a:solidFill>
            <a:srgbClr val="FF6B5A"/>
          </a:solidFill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2532" y="4361688"/>
            <a:ext cx="219456" cy="21945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23660" y="4818888"/>
            <a:ext cx="213283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Role-Based Access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423660" y="5184648"/>
            <a:ext cx="2132838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5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ADMIN, AGENT, and MANAGER permissions via auth-service.</a:t>
            </a:r>
            <a:endParaRPr lang="en-US" sz="960" dirty="0"/>
          </a:p>
        </p:txBody>
      </p:sp>
      <p:sp>
        <p:nvSpPr>
          <p:cNvPr id="39" name="Shape 30"/>
          <p:cNvSpPr/>
          <p:nvPr/>
        </p:nvSpPr>
        <p:spPr>
          <a:xfrm>
            <a:off x="9013698" y="4041648"/>
            <a:ext cx="2535174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blurRad="127000" dist="38100" dir="5400000" algn="bl" rotWithShape="0">
              <a:srgbClr val="0B2E4E">
                <a:alpha val="16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214866" y="4242816"/>
            <a:ext cx="457200" cy="457200"/>
          </a:xfrm>
          <a:prstGeom prst="ellipse">
            <a:avLst/>
          </a:prstGeom>
          <a:solidFill>
            <a:srgbClr val="FF6B5A"/>
          </a:solidFill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3738" y="4361688"/>
            <a:ext cx="219456" cy="21945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214866" y="4818888"/>
            <a:ext cx="213283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Operational Dashboard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9214866" y="5184648"/>
            <a:ext cx="2132838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5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view of commitments, escalations, and resolution time.</a:t>
            </a:r>
            <a:endParaRPr lang="en-US" sz="960" dirty="0"/>
          </a:p>
        </p:txBody>
      </p:sp>
      <p:sp>
        <p:nvSpPr>
          <p:cNvPr id="44" name="Text 34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InsightLoop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E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5486400" cy="5486400"/>
          </a:xfrm>
          <a:prstGeom prst="ellipse">
            <a:avLst/>
          </a:prstGeom>
          <a:solidFill>
            <a:srgbClr val="1C7293">
              <a:alpha val="1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692640" y="-2011680"/>
            <a:ext cx="4754880" cy="4754880"/>
          </a:xfrm>
          <a:prstGeom prst="ellipse">
            <a:avLst/>
          </a:prstGeom>
          <a:solidFill>
            <a:srgbClr val="FF6B5A">
              <a:alpha val="12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F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Explore the Running Application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7DC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 this overview with your team, or review the active system flows directly in the running environment.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6035040" cy="868680"/>
          </a:xfrm>
          <a:prstGeom prst="roundRect">
            <a:avLst>
              <a:gd name="adj" fmla="val 9474"/>
            </a:avLst>
          </a:prstGeom>
          <a:solidFill>
            <a:srgbClr val="13395C"/>
          </a:solidFill>
          <a:ln w="12700">
            <a:solidFill>
              <a:srgbClr val="2355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3063240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3182112"/>
            <a:ext cx="265176" cy="2651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37360" y="299008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UI</a:t>
            </a:r>
            <a:endParaRPr lang="en-US" sz="1350" dirty="0"/>
          </a:p>
        </p:txBody>
      </p:sp>
      <p:sp>
        <p:nvSpPr>
          <p:cNvPr id="11" name="Text 8">
            <a:hlinkClick r:id="rId2"/>
          </p:cNvPr>
          <p:cNvSpPr/>
          <p:nvPr/>
        </p:nvSpPr>
        <p:spPr>
          <a:xfrm>
            <a:off x="1737360" y="331012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u="sng" dirty="0">
                <a:solidFill>
                  <a:srgbClr val="5F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http://localhost:4200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22960" y="3931920"/>
            <a:ext cx="6035040" cy="868680"/>
          </a:xfrm>
          <a:prstGeom prst="roundRect">
            <a:avLst>
              <a:gd name="adj" fmla="val 9474"/>
            </a:avLst>
          </a:prstGeom>
          <a:solidFill>
            <a:srgbClr val="13395C"/>
          </a:solidFill>
          <a:ln w="12700">
            <a:solidFill>
              <a:srgbClr val="23557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51560" y="4114800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233672"/>
            <a:ext cx="265176" cy="265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37360" y="4041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Gateway</a:t>
            </a:r>
            <a:endParaRPr lang="en-US" sz="1350" dirty="0"/>
          </a:p>
        </p:txBody>
      </p:sp>
      <p:sp>
        <p:nvSpPr>
          <p:cNvPr id="16" name="Text 12">
            <a:hlinkClick r:id="rId4"/>
          </p:cNvPr>
          <p:cNvSpPr/>
          <p:nvPr/>
        </p:nvSpPr>
        <p:spPr>
          <a:xfrm>
            <a:off x="1737360" y="436168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u="sng" dirty="0">
                <a:solidFill>
                  <a:srgbClr val="5F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http://localhost:8090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822960" y="59893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FB3C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4755</Words>
  <Application>WPS Presentation</Application>
  <PresentationFormat>On-screen Show (16:9)</PresentationFormat>
  <Paragraphs>284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InsightLoop: Product Flows &amp; Architecture</dc:title>
  <dc:creator>InsightLoop</dc:creator>
  <dc:subject>PptxGenJS Presentation</dc:subject>
  <cp:lastModifiedBy>Jeniya</cp:lastModifiedBy>
  <cp:revision>2</cp:revision>
  <dcterms:created xsi:type="dcterms:W3CDTF">2026-07-09T06:28:00Z</dcterms:created>
  <dcterms:modified xsi:type="dcterms:W3CDTF">2026-07-09T15:40:31Z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4A753E609EA74C56902D4761DBFBB3FD_12</vt:lpwstr>
  </property>
  <property fmtid="{D5CDD505-2E9C-101B-9397-08002B2CF9AE}" pid="3" name="KSOProductBuildVer">
    <vt:lpwstr>1033-12.1.0.26880</vt:lpwstr>
  </property>
</Properties>
</file>